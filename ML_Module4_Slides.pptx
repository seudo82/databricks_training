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45920"/>
            <a:ext cx="106344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Segoe UI"/>
              </a:rPr>
              <a:t>ML Engineer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46120"/>
            <a:ext cx="6702552" cy="4572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44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8D8E8"/>
                </a:solidFill>
                <a:latin typeface="Segoe UI"/>
              </a:rPr>
              <a:t>Predicting Booking Cancellations with Databricks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72000"/>
            <a:ext cx="10634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8E8E93"/>
                </a:solidFill>
                <a:latin typeface="Segoe UI"/>
              </a:rPr>
              <a:t>Module 4  ·  Wanderbricks Training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55A2B"/>
                </a:solidFill>
                <a:latin typeface="Segoe UI"/>
              </a:rP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10634472" cy="27432"/>
          </a:xfrm>
          <a:prstGeom prst="rect">
            <a:avLst/>
          </a:prstGeom>
          <a:solidFill>
            <a:srgbClr val="35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08760"/>
            <a:ext cx="50292" cy="192024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508760"/>
            <a:ext cx="1043330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"Rising cancellation rates are hurting revenue.
Can we predict which bookings will cancel
before they do?"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106344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E8E93"/>
                </a:solidFill>
                <a:latin typeface="Segoe UI"/>
              </a:rPr>
              <a:t>Binary classification.  Early intervention.  Real business impact.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51960"/>
            <a:ext cx="106344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B340"/>
                </a:solidFill>
                <a:latin typeface="Courier New"/>
              </a:rPr>
              <a:t>Target:  is_cancelled  — scored at booking time, not after.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C3D5A"/>
                </a:solidFill>
                <a:latin typeface="Segoe UI"/>
              </a:rPr>
              <a:t>Zero Setup. Five Tables.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10634472" cy="27432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34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C3D5A"/>
                </a:solidFill>
                <a:latin typeface="Courier New"/>
              </a:rPr>
              <a:t>samples.wanderbricks  is built into every Databricks workspace.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11680"/>
          <a:ext cx="1127455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97112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Table</a:t>
                      </a:r>
                    </a:p>
                  </a:txBody>
                  <a:tcPr>
                    <a:solidFill>
                      <a:srgbClr val="E55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Key signal</a:t>
                      </a:r>
                    </a:p>
                  </a:txBody>
                  <a:tcPr>
                    <a:solidFill>
                      <a:srgbClr val="E55A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bookings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Dates, amount, status  → 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users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Tenure, loyalty tier  →  commitment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properties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Type, rating  →  quality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payments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Method, timing  →  intent 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572000"/>
            <a:ext cx="10634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E8E93"/>
                </a:solidFill>
                <a:latin typeface="Segoe UI"/>
              </a:rPr>
              <a:t>reviews  excluded — post-stay data is leakage.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55A2B"/>
                </a:solidFill>
                <a:latin typeface="Segoe UI"/>
              </a:rPr>
              <a:t>4 Tables.  13 Features.  1 Spark Job.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10634472" cy="27432"/>
          </a:xfrm>
          <a:prstGeom prst="rect">
            <a:avLst/>
          </a:prstGeom>
          <a:solidFill>
            <a:srgbClr val="35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634472" cy="3840480"/>
          </a:xfrm>
          <a:prstGeom prst="rect">
            <a:avLst/>
          </a:prstGeom>
          <a:solidFill>
            <a:srgbClr val="2A2A30"/>
          </a:solidFill>
          <a:ln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463040"/>
            <a:ext cx="50292" cy="384048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609344"/>
            <a:ext cx="10433304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340"/>
                </a:solidFill>
                <a:latin typeface="Courier New"/>
              </a:rPr>
              <a:t>df = (
    bookings
    .join(users,      on='user_id',     how='left')
    .join(properties, on='property_id', how='left')
    .join(payments,   on='booking_id',  how='left')
    .withColumn('lead_time_days',
                datediff('check_in_date', 'booking_date'))
    .withColumn('user_tenure_days',
                datediff('booking_date', 'signup_date'))
    .withColumn('is_cancelled',
                when(col('status') == 'cancelled', 1).otherwise(0))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86400"/>
            <a:ext cx="10634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E8E93"/>
                </a:solidFill>
                <a:latin typeface="Segoe UI"/>
              </a:rPr>
              <a:t>Same code.  Any cluster size.  Any data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6344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Segoe UI"/>
              </a:rPr>
              <a:t>One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80"/>
            <a:ext cx="106344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E55A2B"/>
                </a:solidFill>
                <a:latin typeface="Segoe UI"/>
              </a:rPr>
              <a:t>Everything tracked.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383280"/>
            <a:ext cx="10634472" cy="685800"/>
          </a:xfrm>
          <a:prstGeom prst="rect">
            <a:avLst/>
          </a:prstGeom>
          <a:solidFill>
            <a:srgbClr val="2A2A30"/>
          </a:solidFill>
          <a:ln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383280"/>
            <a:ext cx="50292" cy="68580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3529584"/>
            <a:ext cx="104333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340"/>
                </a:solidFill>
                <a:latin typeface="Courier New"/>
              </a:rPr>
              <a:t>mlflow.sklearn.autolog()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51960"/>
            <a:ext cx="106344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8E8E93"/>
                </a:solidFill>
                <a:latin typeface="Segoe UI"/>
              </a:rPr>
              <a:t>Parameters  ·  Metrics  ·  Model artifact  ·  Feature importance  · 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344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C3D5A"/>
                </a:solidFill>
                <a:latin typeface="Segoe UI"/>
              </a:rPr>
              <a:t>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344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800" b="1" i="0">
                <a:solidFill>
                  <a:srgbClr val="E55A2B"/>
                </a:solidFill>
                <a:latin typeface="Segoe UI"/>
              </a:rPr>
              <a:t>AUC  0.84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4114800"/>
            <a:ext cx="7616952" cy="36576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34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C1C1E"/>
                </a:solidFill>
                <a:latin typeface="Segoe UI"/>
              </a:rPr>
              <a:t>A model that always predicts "not cancelled" scores AUC 0.50.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10634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C1C1E"/>
                </a:solidFill>
                <a:latin typeface="Segoe UI"/>
              </a:rPr>
              <a:t>Ours scores 0.84 — it actually learned something.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C3D5A"/>
                </a:solidFill>
                <a:latin typeface="Segoe UI"/>
              </a:rPr>
              <a:t>Every Run, Fully Audited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10634472" cy="27432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34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C3D5A"/>
                </a:solidFill>
                <a:latin typeface="Courier New"/>
              </a:rPr>
              <a:t>Experiments  →  wanderbricks_cancellation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011680"/>
          <a:ext cx="1127455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4873752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Captured automatically</a:t>
                      </a:r>
                    </a:p>
                  </a:txBody>
                  <a:tcPr>
                    <a:solidFill>
                      <a:srgbClr val="E55A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How</a:t>
                      </a:r>
                    </a:p>
                  </a:txBody>
                  <a:tcPr>
                    <a:solidFill>
                      <a:srgbClr val="E55A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n_estimators, max_depth, class_weight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autolog()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accuracy, F1, precision, recall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autolog()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Model artifact + feature importance plot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autolog()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test_roc_auc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E"/>
                          </a:solidFill>
                          <a:latin typeface="Segoe UI"/>
                        </a:rPr>
                        <a:t>One mlflow.log_metric() call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663440"/>
            <a:ext cx="10634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8E8E93"/>
                </a:solidFill>
                <a:latin typeface="Segoe UI"/>
              </a:rPr>
              <a:t>Six months from now, you will know exactly what produced this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55A2B"/>
                </a:solidFill>
                <a:latin typeface="Segoe UI"/>
              </a:rPr>
              <a:t>Save.  Load.  Promote.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10634472" cy="27432"/>
          </a:xfrm>
          <a:prstGeom prst="rect">
            <a:avLst/>
          </a:prstGeom>
          <a:solidFill>
            <a:srgbClr val="35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634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8E8E93"/>
                </a:solidFill>
                <a:latin typeface="Segoe UI"/>
              </a:rPr>
              <a:t>Free edition — load directly from the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34472" cy="685800"/>
          </a:xfrm>
          <a:prstGeom prst="rect">
            <a:avLst/>
          </a:prstGeom>
          <a:solidFill>
            <a:srgbClr val="2A2A30"/>
          </a:solidFill>
          <a:ln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20240"/>
            <a:ext cx="50292" cy="68580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66544"/>
            <a:ext cx="104333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340"/>
                </a:solidFill>
                <a:latin typeface="Courier New"/>
              </a:rPr>
              <a:t>mlflow.sklearn.load_model('runs:/' + run_id + '/model')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10634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8E8E93"/>
                </a:solidFill>
                <a:latin typeface="Segoe UI"/>
              </a:rPr>
              <a:t>Paid workspace — stable alias, pipeline code never changes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46120"/>
            <a:ext cx="10634472" cy="1280160"/>
          </a:xfrm>
          <a:prstGeom prst="rect">
            <a:avLst/>
          </a:prstGeom>
          <a:solidFill>
            <a:srgbClr val="2A2A30"/>
          </a:solidFill>
          <a:ln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246120"/>
            <a:ext cx="50292" cy="128016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392424"/>
            <a:ext cx="1043330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340"/>
                </a:solidFill>
                <a:latin typeface="Courier New"/>
              </a:rPr>
              <a:t>mlflow.pyfunc.load_model(
    'models:/main.default.cancellation_predictor@champion'
)
# Promote a new version? Move the alias. Done.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34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55A2B"/>
                </a:solidFill>
                <a:latin typeface="Segoe UI"/>
              </a:rPr>
              <a:t>The @champion alias is your stable production reference.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9436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55A2B"/>
                </a:solidFill>
                <a:latin typeface="Segoe UI"/>
              </a:rPr>
              <a:t>From Notebook to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98448"/>
            <a:ext cx="10634472" cy="27432"/>
          </a:xfrm>
          <a:prstGeom prst="rect">
            <a:avLst/>
          </a:prstGeom>
          <a:solidFill>
            <a:srgbClr val="35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63040"/>
            <a:ext cx="10634472" cy="3200400"/>
          </a:xfrm>
          <a:prstGeom prst="rect">
            <a:avLst/>
          </a:prstGeom>
          <a:solidFill>
            <a:srgbClr val="2A2A30"/>
          </a:solidFill>
          <a:ln>
            <a:solidFill>
              <a:srgbClr val="3A3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463040"/>
            <a:ext cx="50292" cy="3200400"/>
          </a:xfrm>
          <a:prstGeom prst="rect">
            <a:avLst/>
          </a:prstGeom>
          <a:solidFill>
            <a:srgbClr val="E55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609344"/>
            <a:ext cx="10433304" cy="2907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B340"/>
                </a:solidFill>
                <a:latin typeface="Courier New"/>
              </a:rPr>
              <a:t>Push to GitHub
      ↓
GitHub Actions  →  databricks bundle deploy  →  staging workspace
      ↓
Automated tests pass  →  @champion alias promoted in prod
      ↓
Inference pipeline loads @champion  —  no code changes, ever.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0634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8E8E93"/>
                </a:solidFill>
                <a:latin typeface="Segoe UI"/>
              </a:rPr>
              <a:t>Git versioning works today on free edition.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10634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8E8E93"/>
                </a:solidFill>
                <a:latin typeface="Segoe UI"/>
              </a:rPr>
              <a:t>Multi-environment CI/CD requires a trial or paid workspace.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55A2B"/>
                </a:solidFill>
                <a:latin typeface="Segoe UI"/>
              </a:rPr>
              <a:t>Spark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03320" y="1188720"/>
            <a:ext cx="7708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Segoe UI"/>
              </a:rPr>
              <a:t>  handles the data at any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55A2B"/>
                </a:solidFill>
                <a:latin typeface="Segoe UI"/>
              </a:rPr>
              <a:t>MLflow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03320" y="2606040"/>
            <a:ext cx="7708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Segoe UI"/>
              </a:rPr>
              <a:t>  tracks every experiment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E55A2B"/>
                </a:solidFill>
                <a:latin typeface="Segoe UI"/>
              </a:rPr>
              <a:t>Unity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4023360"/>
            <a:ext cx="7708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Segoe UI"/>
              </a:rPr>
              <a:t>  governs model versions in production.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303520"/>
            <a:ext cx="10634472" cy="27432"/>
          </a:xfrm>
          <a:prstGeom prst="rect">
            <a:avLst/>
          </a:prstGeom>
          <a:solidFill>
            <a:srgbClr val="3A3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486400"/>
            <a:ext cx="106344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E8E93"/>
                </a:solidFill>
                <a:latin typeface="Courier New"/>
              </a:rPr>
              <a:t>04_ML_Cancellation_Predictor.ipynb  ·  samples.wanderbricks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
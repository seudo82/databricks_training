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20440"/>
            <a:ext cx="12188952" cy="54864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5200" b="1" i="0">
                <a:solidFill>
                  <a:srgbClr val="FFFFFF"/>
                </a:solidFill>
                <a:latin typeface="Segoe UI"/>
              </a:rPr>
              <a:t>ML Engineer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2600" b="0" i="0">
                <a:solidFill>
                  <a:srgbClr val="C8D8E8"/>
                </a:solidFill>
                <a:latin typeface="Segoe UI"/>
              </a:rPr>
              <a:t>Predicting Booking Cancellations with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2000" b="0" i="0">
                <a:solidFill>
                  <a:srgbClr val="A0B8CC"/>
                </a:solidFill>
                <a:latin typeface="Segoe UI"/>
              </a:rPr>
              <a:t>Wanderbricks Training Session — Module 4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80A0B8"/>
                </a:solidFill>
                <a:latin typeface="Courier New"/>
              </a:rPr>
              <a:t>Dataset: samples.wanderbricks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1.   The business problem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2.   The Databricks ML lifecycle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3.   Explore data in Unity Catalog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4.   Feature engineering with Spark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5.   Train with MLflow autologging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6.   MLflow Experiment UI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7.   Evaluate the model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8.   Save and load the model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9.   CI/CD in Databricks</a:t>
            </a:r>
          </a:p>
          <a:p>
            <a:pPr algn="l">
              <a:spcBef>
                <a:spcPts val="400"/>
              </a:spcBef>
            </a:pPr>
            <a:r>
              <a:rPr sz="2000" b="0" i="0">
                <a:solidFill>
                  <a:srgbClr val="333333"/>
                </a:solidFill>
                <a:latin typeface="Segoe UI"/>
              </a:rPr>
              <a:t>10.  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400"/>
              </a:spcBef>
            </a:pPr>
            <a:r>
              <a:rPr sz="1300" b="0" i="1">
                <a:solidFill>
                  <a:srgbClr val="888888"/>
                </a:solidFill>
                <a:latin typeface="Segoe UI"/>
              </a:rPr>
              <a:t>Estimated time: 35–40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The Business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333333"/>
                </a:solidFill>
                <a:latin typeface="Segoe UI"/>
              </a:rPr>
              <a:t>Wanderbricks — a fictional travel booking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"The customer ops team has flagged rising cancellation rates.
Can we predict which new bookings are likely to cancel
so we can intervene early?"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 b="1" i="0">
                <a:solidFill>
                  <a:srgbClr val="333333"/>
                </a:solidFill>
                <a:latin typeface="Segoe UI"/>
              </a:rPr>
              <a:t>ML question: Binary classification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  •  Target:  is_cancelled   (1 = cancelled,  0 = not cancelled)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  •  Use case:  Score new bookings at time of booking, not after</a:t>
            </a:r>
          </a:p>
          <a:p>
            <a:pPr algn="l">
              <a:spcBef>
                <a:spcPts val="400"/>
              </a:spcBef>
            </a:pPr>
            <a:r>
              <a:rPr sz="1000" b="0" i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Business value: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  •  Send early incentives or reminders to at-risk bookings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  •  Optimise inventory and revenue forecasting</a:t>
            </a:r>
          </a:p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  •  Reduce last-minute gaps in the property calendar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The Databricks ML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65992" cy="384048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samples.wanderbricks          Feature              MLflow
    (Unity Catalog)      →   Engineering    →   Autologging
                              (Spark)            (tracking)
                                 |                   |
                                 v                   v
                             sklearn RF        Experiment UI
                             Classifier     (params, metrics,
                                 |             artifacts)
                                 v
                           Model saved        CI/CD Pipeline
                           to MLflow    →   (paid workspaces)
                           run 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2000" b="1" i="0">
                <a:solidFill>
                  <a:srgbClr val="1C3D5A"/>
                </a:solidFill>
                <a:latin typeface="Segoe UI"/>
              </a:rPr>
              <a:t>Three platforms, one workflow:  Spark  +  MLflow  +  Unity Catalog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The Dataset: samples.wanderbricks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0" i="0">
                <a:solidFill>
                  <a:srgbClr val="333333"/>
                </a:solidFill>
                <a:latin typeface="Segoe UI"/>
              </a:rPr>
              <a:t>Available in every Databricks workspace — no upload needed.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91640"/>
          <a:ext cx="1127455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8855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Table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What it contains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bookings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Booking ID, status, dates, amount, guests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users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User profile, signup date, loyalty tier, country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properties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Property type, location, average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payments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Payment method, payment date, amount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Guest reviews — NOT used (data leakage)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11480" y="4617720"/>
            <a:ext cx="11365992" cy="68580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091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-- Run in a %sql cell to see all tables
SHOW TABLES IN samples.wanderbricks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1: Explore the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65992" cy="73152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bookings_raw = spark.read.table('samples.wanderbricks.bookings')
display(bookings_raw)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65960"/>
          <a:ext cx="1127455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.show()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display()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Plain text output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Interactive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Fixed 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Sortable, filterable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No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Built-in chart builder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3291840"/>
            <a:ext cx="11365992" cy="123444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3832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%sql
SELECT status, COUNT(*) AS booking_count
FROM   samples.wanderbricks.bookings
GROUP  BY status
ORDER  BY booking_count DESC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63440"/>
            <a:ext cx="54864" cy="54864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663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Always run DESCRIBE TABLE first to confirm column names before feature engineering.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2: Feature Engineering with Spark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Join strategy — bookings is the anchor (LEFT JOINs):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45920"/>
            <a:ext cx="11365992" cy="91440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bookings → users       (user tenure, age, loyalty tier)
         → properties  (property type, avg rating)
         → payments    (payment method, days to payment)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Why LEFT JOIN?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Preserves all bookings even if the payment record is missing.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Why NOT join reviews?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160520"/>
            <a:ext cx="54864" cy="59436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16052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Reviews are written after the stay. Using them to predict cancellation = data leakage.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2: Derived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551383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Derivation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Signal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is_cancelled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status == cancelled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TARGET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lead_time_days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check_in - booking_date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Long lead = higher risk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length_of_stay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check_out - check_in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Stay length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booking_month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month(booking_date)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Seasonality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user_tenure_days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booking - signup_date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New user = higher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days_to_payment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payment - booking_date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Delay = cancel signal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loyalty_tier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Direct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Loyal = lower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property_type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Direct column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Type-specific patterns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payment_method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Direct column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Method correlates with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2: Spark → Pandas Handoff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65992" cy="155448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df_features = df.select(*feature_cols)
# Convert to Pandas for scikit-learn
df_pd = df_features.toPandas()
print('Cancellation rate: {:.1%}'.format(df_pd['is_cancelled'].mean()))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88920"/>
          <a:ext cx="1127455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Spark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Pandas + sklearn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Heavy lifting — joins, derivations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Familiar ML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Scales to billions of rows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Simple  fit() / predict()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Same code in 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Works on free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97680"/>
            <a:ext cx="54864" cy="54864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In production: keep everything in Spark, or use Spark MLlib / MLflow with Spark UDFs.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3: MLflow Autologging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65992" cy="301752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mlflow.set_experiment('/Users/wanderbricks_cancellation')
mlflow.sklearn.autolog(log_input_examples=True, log_model_signatures=True)
with mlflow.start_run(run_name='rf_baseline_v1') as run:
    rf = RandomForestClassifier(
        n_estimators=100, max_depth=8,
        class_weight='balanced',   # minority class handling
        random_state=42
    )
    rf.fit(X_train, y_train)
    mlflow.log_metric('test_roc_auc', test_auc)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519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mlflow.sklearn.autolog() captures automatically: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All hyperparameters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Accuracy, F1, precision, recall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Model artifact + feature importance plot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Why class_weight='balanced'?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 b="1" i="0">
                <a:solidFill>
                  <a:srgbClr val="333333"/>
                </a:solidFill>
                <a:latin typeface="Segoe UI"/>
              </a:rPr>
              <a:t>The imbalanced class problem: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11365992" cy="228600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All bookings:    ████████████████░░░░  (15% cancelled)
Without balance:  Model learns → always predict 'not cancelled'
                  Accuracy = 85% ✓   AUC = 0.50 ✗  (useless)
With balanced:    Model learns the cancellation pattern
                  Accuracy = 79% ✓   AUC = 0.82 ✓  (useful)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Accuracy is misleading for imbalanced classes.
AUC is the right metric — it measures ranking quality, not raw hit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4: MLflow Experiment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4864" cy="54864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Live demo — no new code. Navigate: Experiments (left sidebar) → wanderbricks_cancellation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28800"/>
          <a:ext cx="11274552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8855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Tab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What to show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Parameters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n_estimators=100, max_depth=8, class_weight=balanced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Metrics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accuracy, F1, precision, recall, test_roc_auc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Artifacts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Model file, MLmodel manifest, feature importance chart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Key insight: This is your audit trail. Six months from now you know exactly what data,
code, and parameters produced this model — without a spreadsheet.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43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 b="1" i="0">
                <a:solidFill>
                  <a:srgbClr val="E55A2B"/>
                </a:solidFill>
                <a:latin typeface="Segoe UI"/>
              </a:rPr>
              <a:t>Try:  Run training again with n_estimators=50  →  click Compare runs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5: Evaluate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 b="1" i="0">
                <a:solidFill>
                  <a:srgbClr val="333333"/>
                </a:solidFill>
                <a:latin typeface="Segoe UI"/>
              </a:rPr>
              <a:t>Three outputs — no more: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C3D5A"/>
                </a:solidFill>
                <a:latin typeface="Segoe UI"/>
              </a:rPr>
              <a:t>1.  AUC Score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Segoe UI"/>
              </a:rPr>
              <a:t>    Primary metric for imbalanced classification.
    Test AUC: ~0.84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C3D5A"/>
                </a:solidFill>
                <a:latin typeface="Segoe UI"/>
              </a:rPr>
              <a:t>2.  Confusion Matrix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Segoe UI"/>
              </a:rPr>
              <a:t>    True/false positives and negatives at a glance.
    Visual and beginner-friendly.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C3D5A"/>
                </a:solidFill>
                <a:latin typeface="Segoe UI"/>
              </a:rPr>
              <a:t>3.  Feature Importance</a:t>
            </a:r>
          </a:p>
          <a:p>
            <a:pPr algn="l">
              <a:spcBef>
                <a:spcPts val="400"/>
              </a:spcBef>
            </a:pPr>
            <a:r>
              <a:rPr sz="1600" b="0" i="0">
                <a:solidFill>
                  <a:srgbClr val="333333"/>
                </a:solidFill>
                <a:latin typeface="Segoe UI"/>
              </a:rPr>
              <a:t>    Top 10 features that drive the prediction.
    Useful for business discussion.</a:t>
            </a:r>
          </a:p>
          <a:p>
            <a:pPr algn="l">
              <a:spcBef>
                <a:spcPts val="400"/>
              </a:spcBef>
            </a:pPr>
            <a:r>
              <a:rPr sz="800" b="0" i="0">
                <a:solidFill>
                  <a:srgbClr val="333333"/>
                </a:solidFill>
                <a:latin typeface="Segoe U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600" b="1" i="0">
                <a:solidFill>
                  <a:srgbClr val="888888"/>
                </a:solidFill>
                <a:latin typeface="Segoe UI"/>
              </a:rPr>
              <a:t>Not included (intentionally cut):</a:t>
            </a:r>
          </a:p>
          <a:p>
            <a:pPr algn="l">
              <a:spcBef>
                <a:spcPts val="400"/>
              </a:spcBef>
            </a:pPr>
            <a:r>
              <a:rPr sz="1500" b="0" i="1">
                <a:solidFill>
                  <a:srgbClr val="888888"/>
                </a:solidFill>
                <a:latin typeface="Segoe UI"/>
              </a:rPr>
              <a:t>    ROC curve, SHAP values, calibration plots — valuable, but out of scope for this session.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6: Save and Load the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Free edition — load from run URI: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554480"/>
            <a:ext cx="11365992" cy="100584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459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model_uri    = 'runs:/' + run_id + '/model'
loaded_model = mlflow.sklearn.load_model(model_uri)
predictions  = loaded_model.predict(X_test.head(5))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C3D5A"/>
                </a:solidFill>
                <a:latin typeface="Segoe UI"/>
              </a:rPr>
              <a:t>Paid workspace — Unity Catalog model registry: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154680"/>
            <a:ext cx="11365992" cy="219456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mlflow.set_registry_uri('databricks-uc')
mlflow.register_model(model_uri, 'main.default.cancellation_predictor')
client.set_registered_model_alias(
    'main.default.cancellation_predictor', 'champion', version
)
# Stable production reference — never changes on version promotion
mlflow.pyfunc.load_model('models:/main.default.cancellation_predictor@champion')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486400"/>
            <a:ext cx="54864" cy="548640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4864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600" b="0" i="1">
                <a:solidFill>
                  <a:srgbClr val="888888"/>
                </a:solidFill>
                <a:latin typeface="Segoe UI"/>
              </a:rPr>
              <a:t>When you promote a new model, move the @champion alias. The inference pipeline code never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Section 7: CI/CD in Databricks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65992" cy="5120640"/>
          </a:xfrm>
          <a:prstGeom prst="rect">
            <a:avLst/>
          </a:prstGeom>
          <a:solidFill>
            <a:srgbClr val="F0F4F8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1C3D5A"/>
                </a:solidFill>
                <a:latin typeface="Courier New"/>
              </a:rPr>
              <a:t>Developer pushes notebook/code to GitHub
         |
         v
GitHub Actions triggers on PR / merge to main
         |
         v
databricks bundle deploy  →  deploys to staging workspace
         |
         v
Databricks Workflow runs automated tests
(unit tests  +  model quality validation)
         |
         v
Pass:  @champion alias promoted in prod workspace
         |
         v
Inference pipeline always loads @champion  —  no code changes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CI/CD: Key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7415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Databricks Asset Bundles (DABs)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Infrastructure-as-code — databricks.yml defines notebooks, jobs, clusters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Databricks CLI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Runs "databricks bundle deploy" from GitHub Actions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MLflow Model Registry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Versioning, aliases (@champion), lineage — paid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Databricks Workflows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Scheduled and event-triggered job orchestration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333333"/>
                </a:solidFill>
                <a:latin typeface="Segoe UI"/>
              </a:rPr>
              <a:t>What you can do on free edition today: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Version this notebook in Git via Repos (workspace sidebar) and push to GitHub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Explain the full CI/CD flow using the diagram on the previous slide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Multi-environment deployment requires a trial or paid workspace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7455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6336792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Step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Key takeaway</a:t>
                      </a:r>
                    </a:p>
                  </a:txBody>
                  <a:tcPr>
                    <a:solidFill>
                      <a:srgbClr val="1C3D5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Data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spark.read.table()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No connection strings — governed by Unity Catalog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Feature engineering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PySpark withColumn()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Scales to any data size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sklearn + mlflow.autolog()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One line = full experiment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Experiment tracking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MLflow UI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Reproducible, auditable, comparable runs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Model saving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MLflow run URI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Portable artifact; works on free edition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Model registry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Unity Catalog (paid)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Stable @champion alias for production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CI/CD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DABs + GitHub 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  <a:latin typeface="Segoe UI"/>
                        </a:rPr>
                        <a:t>Automated, governed ML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3000" b="1" i="0">
                <a:solidFill>
                  <a:srgbClr val="1C3D5A"/>
                </a:solidFill>
                <a:latin typeface="Segoe UI"/>
              </a:rPr>
              <a:t>What to Try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9264"/>
            <a:ext cx="11274552" cy="36576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 b="1" i="0">
                <a:solidFill>
                  <a:srgbClr val="1C3D5A"/>
                </a:solidFill>
                <a:latin typeface="Segoe UI"/>
              </a:rPr>
              <a:t>In the notebook (try these now):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Change n_estimators or max_depth  →  compare runs in the Experiment UI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Remove class_weight='balanced'  →  watch accuracy rise but AUC fall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Add more countries to the one-hot encoding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900" b="1" i="0">
                <a:solidFill>
                  <a:srgbClr val="1C3D5A"/>
                </a:solidFill>
                <a:latin typeface="Segoe UI"/>
              </a:rPr>
              <a:t>Explore after this session: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Databricks AutoML — automated feature engineering + model selection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MLflow Model Registry — versioning and @champion aliases (trial workspace)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Databricks Workflows — schedule this notebook as an automated job</a:t>
            </a:r>
          </a:p>
          <a:p>
            <a:pPr algn="l">
              <a:spcBef>
                <a:spcPts val="400"/>
              </a:spcBef>
            </a:pPr>
            <a:r>
              <a:rPr sz="1700" b="0" i="0">
                <a:solidFill>
                  <a:srgbClr val="333333"/>
                </a:solidFill>
                <a:latin typeface="Segoe UI"/>
              </a:rPr>
              <a:t>  •  Feature Store — centralised, reusable feature definitions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3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88952" cy="54864"/>
          </a:xfrm>
          <a:prstGeom prst="rect">
            <a:avLst/>
          </a:prstGeom>
          <a:solidFill>
            <a:srgbClr val="E55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60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2800" b="0" i="0">
                <a:solidFill>
                  <a:srgbClr val="C8D8E8"/>
                </a:solidFill>
                <a:latin typeface="Segoe UI"/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A0B8CC"/>
                </a:solidFill>
                <a:latin typeface="Segoe UI"/>
              </a:rPr>
              <a:t>Module 4 — ML Engineer Overview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A0B8CC"/>
                </a:solidFill>
                <a:latin typeface="Segoe UI"/>
              </a:rPr>
              <a:t>Wanderbricks Training Session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A0B8CC"/>
                </a:solidFill>
                <a:latin typeface="Segoe UI"/>
              </a:rPr>
              <a:t/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A0B8CC"/>
                </a:solidFill>
                <a:latin typeface="Segoe UI"/>
              </a:rPr>
              <a:t>Notebook:  04_ML_Cancellation_Predictor.ipynb</a:t>
            </a:r>
          </a:p>
          <a:p>
            <a:pPr algn="ctr">
              <a:spcBef>
                <a:spcPts val="400"/>
              </a:spcBef>
            </a:pPr>
            <a:r>
              <a:rPr sz="1600" b="0" i="0">
                <a:solidFill>
                  <a:srgbClr val="A0B8CC"/>
                </a:solidFill>
                <a:latin typeface="Segoe UI"/>
              </a:rPr>
              <a:t>Dataset:   samples.wanderbricks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